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5603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1F5F9"/>
                </a:solidFill>
              </a:defRPr>
            </a:pPr>
            <a:r>
              <a:t>SeChat Real-Time Messaging Platform</a:t>
            </a:r>
          </a:p>
          <a:p>
            <a:pPr>
              <a:spcBef>
                <a:spcPts val="1200"/>
              </a:spcBef>
              <a:defRPr sz="2200">
                <a:solidFill>
                  <a:srgbClr val="14B8A6"/>
                </a:solidFill>
              </a:defRPr>
            </a:pPr>
            <a:r>
              <a:t>Current vs. Proposed Architecture &amp; Scalability Blueprint</a:t>
            </a:r>
          </a:p>
          <a:p>
            <a:pPr>
              <a:spcBef>
                <a:spcPts val="1800"/>
              </a:spcBef>
              <a:defRPr sz="1400">
                <a:solidFill>
                  <a:srgbClr val="94A3B8"/>
                </a:solidFill>
              </a:defRPr>
            </a:pPr>
            <a:r>
              <a:t>A technical breakdown of scaling from a single-node prototype to a resilient, distributed, E2EE-ready architecture.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Prepared for System Architecture Presentation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SECHAT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Executive Summary: Evolution of SeChat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F87171"/>
                </a:solidFill>
              </a:defRPr>
            </a:pPr>
            <a:r>
              <a:t>⚠️ Current Limits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Monolithic FastAPI process with in-memory connection manager.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SQLite file locks under concurrent write operations.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Cannot scale beyond a single server instance.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Loss of connections during network hiccups.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14B8A6"/>
                </a:solidFill>
              </a:defRPr>
            </a:pPr>
            <a:r>
              <a:t>🚀 Proposed System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Decoupled Pub/Sub Broker for cross-process broadcasting.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Central Connection Registry/Pool to support multi-worker clusters.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Integrated Crypto Layer (AES-GCM + KDF) for security.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Monitoring &amp; Rate Limiting guardrails for production stability.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5592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📈 Key Impact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Infinite Horizontal Scalability (Add WS nodes dynamically).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High Availability &amp; Reconnect Resilience.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Enterprise-grade Security (E2EE/MLS roadmap).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Protection against DDoS and message flooding.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SECHAT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Current System Architecture: Baseline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46304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Browser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2194560"/>
            <a:ext cx="146304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HTTP REST (FastAPI)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194560"/>
            <a:ext cx="146304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Token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194560"/>
            <a:ext cx="146304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WebSocket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194560"/>
            <a:ext cx="146304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Connection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2194560"/>
            <a:ext cx="1463040" cy="914400"/>
          </a:xfrm>
          <a:prstGeom prst="roundRect">
            <a:avLst/>
          </a:prstGeom>
          <a:solidFill>
            <a:srgbClr val="0F172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1F5F9"/>
                </a:solidFill>
              </a:defRPr>
            </a:pPr>
            <a:r>
              <a:t>SQLite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5912" cy="2194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Key Bottlenecks of Current Design: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• Tightly Coupled Monolith: HTTP REST, authentication, and WebSocket handling run in a single process.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• In-Memory State Lock: Connection Manager maintains active connections strictly in Python memory. Scaling to 2 processes breaks message delivery.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• Database Concurrency Bottleneck: Synchronous writes to SQLite cause database lock contention during concurrent chat spikes.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SECHAT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Proposed System Architecture: Distributed &amp; Decoupled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4B8A6"/>
                </a:solidFill>
              </a:defRPr>
            </a:pPr>
            <a:r>
              <a:t>Architecture Components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Clients: Web/Mobile connecting via REST &amp; WS Gateways.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REST API (Auth + Room): Dedicated stateless service for user auth &amp; room metadata.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WebSocket Gateway: Lightweight edge servers handling full-duplex TCP framing.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Connection Pool / Registry: Centralized tracker for active connections &amp; worker routing.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Pub/Sub Broker: Redis-like event backbone for cross-worker message fanout.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Crypto Layer (AES-GCM + KDF): E2EE payload encryption &amp; key derivation engine.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Persistence &amp; Monitoring: SQL DB persistence paired with real-time rate limiting.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Core Architecture Enhancements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✔ Process Decoupling: Redis-like Pub/Sub decouples message dissemination from individual WebSocket process memory.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✔ Multi-Worker Connection Registry: Registry supports distributed worker pools and transparent reconnect handling.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✔ Application-Layer Multicast: Maintains logical group delivery without broadcasting overhead across irrelevant nodes.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</a:defRPr>
            </a:pPr>
            <a:r>
              <a:t>✔ Advanced Key Management: Cryptographic foundation designed to evolve smoothly toward MLS / Ratcheting protocols.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SECHAT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Head-to-Head Comparison: Baseline vs. Proposed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591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312"/>
                <a:gridCol w="4114800"/>
                <a:gridCol w="411480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B8A6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B8A6"/>
                          </a:solidFill>
                        </a:defRPr>
                      </a:pPr>
                      <a:r>
                        <a:t>Current System (Baseline)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B8A6"/>
                          </a:solidFill>
                        </a:defRPr>
                      </a:pPr>
                      <a:r>
                        <a:t>Proposed System (Target)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Architecture Pattern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Single-Process Monolith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Decoupled Micro-services / Gateways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Scaling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Vertical only (limited by single process)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Horizontal (Add WS worker nodes + Pub/Sub)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State Management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In-memory Python ConnectionManager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Centralized Connection Registry + Pub/Sub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Security &amp; Cryptography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Transport-layer only (HTTPS/WSS)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Payload Encryption (AES-GCM + KDF / MLS)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Fault Tolerance &amp; DDoS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No rate limits; connection drop risks data loss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Rate Limiting, Monitoring &amp; Auto-Reconnect</a:t>
                      </a:r>
                    </a:p>
                  </a:txBody>
                  <a:tcPr>
                    <a:solidFill>
                      <a:srgbClr val="14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SECHAT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Key Technological Advantages &amp; Business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4B8A6"/>
                </a:solidFill>
              </a:defRPr>
            </a:pPr>
            <a:r>
              <a:t>1. High Throughput &amp; Low Latency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Pub/Sub architecture allows instant message routing across sub-millisecond event buses, keeping latency &lt; 20ms even under heavy 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2. Zero Downtime Horizontal Scaling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Spin up or tear down WebSocket Gateway containers dynamically based on traffic demand without disrupting active user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3. End-to-End Cryptographic Trust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AES-GCM with Key Derivation Functions ensures that data payloads remain encrypted in transit and at rest.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4. Operational Observability</a:t>
            </a:r>
          </a:p>
          <a:p>
            <a:pPr>
              <a:spcBef>
                <a:spcPts val="800"/>
              </a:spcBef>
              <a:defRPr sz="1200">
                <a:solidFill>
                  <a:srgbClr val="F1F5F9"/>
                </a:solidFill>
              </a:defRPr>
            </a:pPr>
            <a:r>
              <a:t>Built-in rate limiting prevents malicious spam, while monitoring tools deliver live insights into server health and connection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SECHAT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Conclusion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5912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14B8A6"/>
                </a:solidFill>
              </a:defRPr>
            </a:pPr>
            <a:r>
              <a:t>Summary of Architecture Value Proposition: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</a:defRPr>
            </a:pPr>
            <a:r>
              <a:t>✔ Eliminates Single Point of Failure: Distributed WebSocket gateways backed by Redis Pub/Sub ensure uninterrupted service.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</a:defRPr>
            </a:pPr>
            <a:r>
              <a:t>✔ Future-Proof Cryptography: Integrated AES-GCM + KDF layer provides immediate payload security and sets up Double Ratchet / MLS integration.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</a:defRPr>
            </a:pPr>
            <a:r>
              <a:t>✔ Production Readiness: Rate limiting and monitoring safeguards system integrity against spikes and unauthorized traffic.</a:t>
            </a:r>
          </a:p>
          <a:p>
            <a:pPr>
              <a:spcBef>
                <a:spcPts val="1400"/>
              </a:spcBef>
              <a:defRPr sz="1400">
                <a:solidFill>
                  <a:srgbClr val="F1F5F9"/>
                </a:solidFill>
              </a:defRPr>
            </a:pPr>
            <a:r>
              <a:t>✔ Seamless User Experience: Connection pool handles silent reconnects, eliminating frustrating user drops.</a:t>
            </a:r>
          </a:p>
          <a:p>
            <a:br/>
            <a:pPr>
              <a:defRPr sz="1600" b="1">
                <a:solidFill>
                  <a:srgbClr val="3B82F6"/>
                </a:solidFill>
              </a:defRPr>
            </a:pPr>
            <a:r>
              <a:t>Thank You! Open for Questions &amp; Technical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